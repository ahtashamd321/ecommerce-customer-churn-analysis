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33E-43E9-8AF0-0C69CBE46024}"/>
              </c:ext>
            </c:extLst>
          </c:dPt>
          <c:dPt>
            <c:idx val="1"/>
            <c:invertIfNegative val="0"/>
            <c:bubble3D val="0"/>
            <c:spPr>
              <a:solidFill>
                <a:srgbClr val="E8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3E-43E9-8AF0-0C69CBE46024}"/>
              </c:ext>
            </c:extLst>
          </c:dPt>
          <c:dPt>
            <c:idx val="2"/>
            <c:invertIfNegative val="0"/>
            <c:bubble3D val="0"/>
            <c:spPr>
              <a:solidFill>
                <a:srgbClr val="F095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3E-43E9-8AF0-0C69CBE46024}"/>
              </c:ext>
            </c:extLst>
          </c:dPt>
          <c:dPt>
            <c:idx val="3"/>
            <c:invertIfNegative val="0"/>
            <c:bubble3D val="0"/>
            <c:spPr>
              <a:solidFill>
                <a:srgbClr val="F7C1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3E-43E9-8AF0-0C69CBE46024}"/>
              </c:ext>
            </c:extLst>
          </c:dPt>
          <c:dPt>
            <c:idx val="4"/>
            <c:invertIfNegative val="0"/>
            <c:bubble3D val="0"/>
            <c:spPr>
              <a:solidFill>
                <a:srgbClr val="FDEA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33E-43E9-8AF0-0C69CBE460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0-3 Months</c:v>
                </c:pt>
                <c:pt idx="1">
                  <c:v>3-6 Months</c:v>
                </c:pt>
                <c:pt idx="2">
                  <c:v>6-12 Months</c:v>
                </c:pt>
                <c:pt idx="3">
                  <c:v>12-24 Months</c:v>
                </c:pt>
                <c:pt idx="4">
                  <c:v>24+ Months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50.1</c:v>
                </c:pt>
                <c:pt idx="2">
                  <c:v>42.2</c:v>
                </c:pt>
                <c:pt idx="3">
                  <c:v>41.2</c:v>
                </c:pt>
                <c:pt idx="4">
                  <c:v>35.6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33E-43E9-8AF0-0C69CBE460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D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4AB-4989-9C04-430AAABC3323}"/>
              </c:ext>
            </c:extLst>
          </c:dPt>
          <c:dPt>
            <c:idx val="1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AB-4989-9C04-430AAABC3323}"/>
              </c:ext>
            </c:extLst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AB-4989-9C04-430AAABC332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AB-4989-9C04-430AAABC332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4AB-4989-9C04-430AAABC332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AB-4989-9C04-430AAABC332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 Value</c:v>
                </c:pt>
                <c:pt idx="1">
                  <c:v>Mid Value</c:v>
                </c:pt>
                <c:pt idx="2">
                  <c:v>Low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4287307</c:v>
                </c:pt>
                <c:pt idx="1">
                  <c:v>1147695</c:v>
                </c:pt>
                <c:pt idx="2">
                  <c:v>414065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4AB-4989-9C04-430AAABC3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solidFill>
          <a:srgbClr val="1A1D27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9CA3A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D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B5-4931-A9AA-24DED40498BA}"/>
              </c:ext>
            </c:extLst>
          </c:dPt>
          <c:dPt>
            <c:idx val="1"/>
            <c:invertIfNegative val="0"/>
            <c:bubble3D val="0"/>
            <c:spPr>
              <a:solidFill>
                <a:srgbClr val="F095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B5-4931-A9AA-24DED40498BA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B5-4931-A9AA-24DED40498B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Unresolved</c:v>
                </c:pt>
                <c:pt idx="1">
                  <c:v>Resolved</c:v>
                </c:pt>
                <c:pt idx="2">
                  <c:v>No Complaint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56.4</c:v>
                </c:pt>
                <c:pt idx="1">
                  <c:v>51.3</c:v>
                </c:pt>
                <c:pt idx="2">
                  <c:v>37.799999999999997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B5-4931-A9AA-24DED40498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D2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CB6-4D54-8C26-090A5A4AFC1F}"/>
              </c:ext>
            </c:extLst>
          </c:dPt>
          <c:dPt>
            <c:idx val="1"/>
            <c:invertIfNegative val="0"/>
            <c:bubble3D val="0"/>
            <c:spPr>
              <a:solidFill>
                <a:srgbClr val="E8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B6-4D54-8C26-090A5A4AFC1F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B6-4D54-8C26-090A5A4AFC1F}"/>
              </c:ext>
            </c:extLst>
          </c:dPt>
          <c:dPt>
            <c:idx val="3"/>
            <c:invertIfNegative val="0"/>
            <c:bubble3D val="0"/>
            <c:spPr>
              <a:solidFill>
                <a:srgbClr val="8BC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B6-4D54-8C26-090A5A4AFC1F}"/>
              </c:ext>
            </c:extLst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CB6-4D54-8C26-090A5A4AFC1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Score 1</c:v>
                </c:pt>
                <c:pt idx="1">
                  <c:v>Score 2</c:v>
                </c:pt>
                <c:pt idx="2">
                  <c:v>Score 3</c:v>
                </c:pt>
                <c:pt idx="3">
                  <c:v>Score 4</c:v>
                </c:pt>
                <c:pt idx="4">
                  <c:v>Score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73.599999999999994</c:v>
                </c:pt>
                <c:pt idx="1">
                  <c:v>62.3</c:v>
                </c:pt>
                <c:pt idx="2">
                  <c:v>51.6</c:v>
                </c:pt>
                <c:pt idx="3">
                  <c:v>37.799999999999997</c:v>
                </c:pt>
                <c:pt idx="4">
                  <c:v>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B6-4D54-8C26-090A5A4AFC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D2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610-493E-A0C5-7C8B682C32C4}"/>
              </c:ext>
            </c:extLst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10-493E-A0C5-7C8B682C32C4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610-493E-A0C5-7C8B682C32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Value</c:v>
                </c:pt>
                <c:pt idx="1">
                  <c:v>Mid Value</c:v>
                </c:pt>
                <c:pt idx="2">
                  <c:v>Low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6536</c:v>
                </c:pt>
                <c:pt idx="1">
                  <c:v>1541</c:v>
                </c:pt>
                <c:pt idx="2">
                  <c:v>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610-493E-A0C5-7C8B682C32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D2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Risk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9C-43AD-9C15-5EAFEC7F8029}"/>
              </c:ext>
            </c:extLst>
          </c:dPt>
          <c:dPt>
            <c:idx val="1"/>
            <c:invertIfNegative val="0"/>
            <c:bubble3D val="0"/>
            <c:spPr>
              <a:solidFill>
                <a:srgbClr val="E8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9C-43AD-9C15-5EAFEC7F8029}"/>
              </c:ext>
            </c:extLst>
          </c:dPt>
          <c:dPt>
            <c:idx val="2"/>
            <c:invertIfNegative val="0"/>
            <c:bubble3D val="0"/>
            <c:spPr>
              <a:solidFill>
                <a:srgbClr val="F095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9C-43AD-9C15-5EAFEC7F8029}"/>
              </c:ext>
            </c:extLst>
          </c:dPt>
          <c:dPt>
            <c:idx val="3"/>
            <c:invertIfNegative val="0"/>
            <c:bubble3D val="0"/>
            <c:spPr>
              <a:solidFill>
                <a:srgbClr val="F7C1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9C-43AD-9C15-5EAFEC7F8029}"/>
              </c:ext>
            </c:extLst>
          </c:dPt>
          <c:dPt>
            <c:idx val="4"/>
            <c:invertIfNegative val="0"/>
            <c:bubble3D val="0"/>
            <c:spPr>
              <a:solidFill>
                <a:srgbClr val="FDEA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79C-43AD-9C15-5EAFEC7F802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0-3 Months</c:v>
                </c:pt>
                <c:pt idx="1">
                  <c:v>6-12 Months</c:v>
                </c:pt>
                <c:pt idx="2">
                  <c:v>12-24 Months</c:v>
                </c:pt>
                <c:pt idx="3">
                  <c:v>24+ Months</c:v>
                </c:pt>
                <c:pt idx="4">
                  <c:v>3-6 Months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188.7</c:v>
                </c:pt>
                <c:pt idx="1">
                  <c:v>162.69999999999999</c:v>
                </c:pt>
                <c:pt idx="2">
                  <c:v>141.4</c:v>
                </c:pt>
                <c:pt idx="3">
                  <c:v>113.2</c:v>
                </c:pt>
                <c:pt idx="4">
                  <c:v>95.9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79C-43AD-9C15-5EAFEC7F80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D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243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 Customer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8108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24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Churn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8108" y="2080259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Revenue Risk &amp; Building a Data-Driven Retention Strategy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8524" y="2491738"/>
            <a:ext cx="8364072" cy="45721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220531" y="255574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Ahtasham Anjum</a:t>
            </a: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Dataset: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Customers</a:t>
            </a: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Period: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– Dec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8108" y="2921507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1068" y="2961847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961847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71308" y="2961847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68588" y="2963999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customer churn matter financially?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265176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651760" cy="6400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companies spend ₹400–₹1200 to acquire each new customer through ads, discounts, and referral programs.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51760" cy="265176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265176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Loss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customer churns, the business loses their entire future revenue stream on top of the acquisition cost already spent.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51760" cy="265176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25880"/>
            <a:ext cx="2651760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Switching Cost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telecom or banking, e-commerce has no contracts. An unhappy customer opens a competitor's app in seconds.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customers are most financially dangerous to lose — and what must the business do to keep them?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of 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– Dec 2024  |  5000 customers analyzed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600200" cy="137160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0" y="1280160"/>
            <a:ext cx="1600200" cy="1371600"/>
          </a:xfrm>
          <a:prstGeom prst="rect">
            <a:avLst/>
          </a:prstGeom>
          <a:solidFill>
            <a:srgbClr val="E24B4A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Lost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2280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49040" y="1280160"/>
            <a:ext cx="1600200" cy="1371600"/>
          </a:xfrm>
          <a:prstGeom prst="rect">
            <a:avLst/>
          </a:prstGeom>
          <a:solidFill>
            <a:srgbClr val="E24B4A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45.6%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0" y="1280160"/>
            <a:ext cx="1600200" cy="137160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 at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58.5L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23760" y="1280160"/>
            <a:ext cx="1600200" cy="137160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 at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7.02Cr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5303520" cy="196596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2971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by Customer Lifecycle Stage</a:t>
            </a:r>
            <a:endParaRPr lang="en-US" sz="11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274320" y="3246120"/>
          <a:ext cx="53035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5806440" y="2880360"/>
            <a:ext cx="3017520" cy="196596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89788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at Risk by Value Segment</a:t>
            </a:r>
            <a:endParaRPr lang="en-US" sz="1100" dirty="0"/>
          </a:p>
        </p:txBody>
      </p:sp>
      <p:graphicFrame>
        <p:nvGraphicFramePr>
          <p:cNvPr id="29" name="Chart 1"/>
          <p:cNvGraphicFramePr/>
          <p:nvPr/>
        </p:nvGraphicFramePr>
        <p:xfrm>
          <a:off x="5806440" y="3246120"/>
          <a:ext cx="30175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 — Customer Behavior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churn — and when does it happen?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06240" cy="25603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 — Complaint Resolution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complaints drive 56% churn vs 38% for complaint-free customers - an 18 point gap from support inaction.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2286000"/>
          <a:ext cx="42062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234440"/>
            <a:ext cx="4206240" cy="25603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143000"/>
            <a:ext cx="8595360" cy="45719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 — Satisfaction Score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166420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 customers churn at 73.6% nearly 2.4× the rate of Score 5 customers at 30.5%. Satisfaction is a direct churn predictor.</a:t>
            </a:r>
            <a:endParaRPr lang="en-US" sz="11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4663440" y="2286000"/>
          <a:ext cx="42062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40416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721 customers have unresolved complaints and churn at 56.4%  an 18 point gap from complaint free customers driven entirely by support team inaction. Resolving these complaints is the highest ROI immediate action 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Risk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churn is equal — the financial impact varies dramatically by segment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1188720"/>
          </a:xfrm>
          <a:prstGeom prst="rect">
            <a:avLst/>
          </a:prstGeom>
          <a:solidFill>
            <a:srgbClr val="E24B4A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6,536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 revenue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churned High Value customer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234440"/>
            <a:ext cx="2743200" cy="1188720"/>
          </a:xfrm>
          <a:prstGeom prst="rect">
            <a:avLst/>
          </a:prstGeom>
          <a:solidFill>
            <a:srgbClr val="E24B4A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13.9×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expensive than losing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 Value customer (471)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743200" cy="1188720"/>
          </a:xfrm>
          <a:prstGeom prst="rect">
            <a:avLst/>
          </a:prstGeom>
          <a:solidFill>
            <a:srgbClr val="E24B4A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5.14Cr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at risk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High Value churn alone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4206240" cy="224028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 Revenue Per Churned Customer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274320" y="2971800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663440" y="2606040"/>
            <a:ext cx="4206240" cy="224028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at Risk by Tenure Stage (L)</a:t>
            </a:r>
            <a:endParaRPr lang="en-US" sz="110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4663440" y="2971800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Risk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four-tier prioritization system built on value, recency, and complaint resolution status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30175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61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56.6%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₹65.5L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34290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call within 7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234440"/>
            <a:ext cx="2011680" cy="30175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234440"/>
            <a:ext cx="201168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1261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46888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Risk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₹425L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42032" y="34290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re-engagement campaign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2011680" cy="30175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34440"/>
            <a:ext cx="201168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261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1437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66344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53.7%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Risk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₹131.8L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36592" y="34290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nudge campaigns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1234440"/>
            <a:ext cx="2011680" cy="30175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234440"/>
            <a:ext cx="201168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1261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1367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685800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944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86384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Risk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₹79.6L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31152" y="34290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engagement programs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Spotlight: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customers are CRITICAL + Dormant + Unresolved Complaint simultaneously-churning at 65.1% and carrying 52L in annual revenue at risk. Call them first.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Retention Action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actions for each business team — with targets and timelines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34747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011680" cy="59436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52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Retention 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&amp; 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294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Personally call all 152 CRITICAL customers within 7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48265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complaint resolution + win-back discount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3828" y="30998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saved customer tracker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1828800" cy="1828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224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4224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20L annually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4439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4439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1234440"/>
            <a:ext cx="2011680" cy="34747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234440"/>
            <a:ext cx="201168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1252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Marketing Team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&amp; 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Re-engagement campaign for 2458 dormant customers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26609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cashback for 0–3 month customers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30998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sequence for Slipping customers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4160520"/>
            <a:ext cx="1828800" cy="1828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4224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4224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churn 58%→45%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0" y="44439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08960" y="44439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234440"/>
            <a:ext cx="2011680" cy="34747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234440"/>
            <a:ext cx="201168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252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Customer Support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all 721 open complaints within 48 hours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2575649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queue for High Value customers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2941141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resolution rate reporting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4160520"/>
            <a:ext cx="1828800" cy="1828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224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0" y="4224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churn 56%→42%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44439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03520" y="44439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0" y="1234440"/>
            <a:ext cx="2011680" cy="347472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58000" y="1234440"/>
            <a:ext cx="2011680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0" y="1252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Product Team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&amp; LOW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4944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onboarding for 0–3 month customers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49440" y="2532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delivery SLA for Tier 3 cities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2916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proactive order notifications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9440" y="4160520"/>
            <a:ext cx="1828800" cy="1828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0" y="4224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98080" y="4224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churn 62%→48%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49440" y="44439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98080" y="44439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Projected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all four team actions are implemented simultaneously?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24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45.6%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7.02 crore annual revenue at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RETENTION ACTIONS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(est.)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crore annual revenue recoverable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49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Timeline: 6 months to achieve 35% churn rate with full team implementation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Customer Churn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57600" cy="2743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2316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45.6% churn rate — 2.3× the industry average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7063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7.02 crore in annual revenue at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1810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 CRITICAL customers need immediate personal outreach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6557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721 unresolved complaints driving preventable churn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130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2.5 crore recoverable with full team 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3200400" cy="310896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Assets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2542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github.com/ahtashamd321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3017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MySQL · Power BI · DAX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3236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3493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customers · Jan–Dec 2024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968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5-page interactive Power BI report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44439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business recommendation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Ahtasham Anjum  |  Data Analyst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789</Words>
  <Application>Microsoft Office PowerPoint</Application>
  <PresentationFormat>On-screen Show (16:9)</PresentationFormat>
  <Paragraphs>175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Customer Churn Analysis</dc:title>
  <dc:subject>PptxGenJS Presentation</dc:subject>
  <dc:creator>Ahtasham Anjum</dc:creator>
  <cp:lastModifiedBy>Ahtasham Anjum</cp:lastModifiedBy>
  <cp:revision>4</cp:revision>
  <dcterms:created xsi:type="dcterms:W3CDTF">2026-05-24T02:25:40Z</dcterms:created>
  <dcterms:modified xsi:type="dcterms:W3CDTF">2026-05-24T04:05:55Z</dcterms:modified>
</cp:coreProperties>
</file>